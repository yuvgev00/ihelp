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1737360"/>
          </a:xfrm>
          <a:prstGeom prst="rect">
            <a:avLst/>
          </a:prstGeom>
          <a:solidFill>
            <a:srgbClr val="0B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41264" y="1051560"/>
            <a:ext cx="1097280" cy="1097280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3327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FFFFFF"/>
                </a:solidFill>
                <a:latin typeface="Arial"/>
              </a:rPr>
              <a:t>מבקשים עזרה — העוזרים מגיעים אליכם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94760"/>
            <a:ext cx="941832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1700" b="0" lang="he-IL">
                <a:solidFill>
                  <a:srgbClr val="D9E8E1"/>
                </a:solidFill>
                <a:latin typeface="Arial"/>
              </a:rPr>
              <a:t>שוק עזרה הפוך: מפרסמים בקשה אחת, ושכנים מאומתים מתחרים לעזור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9AADA4"/>
                </a:solidFill>
                <a:latin typeface="Arial"/>
              </a:rPr>
              <a:t>פרויקט גמר · Internet Technologies — Become a Full-Stack Engineer · RUNI CS 2026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A87A"/>
                </a:solidFill>
                <a:latin typeface="Arial"/>
              </a:rPr>
              <a:t>ihelp-roan.vercel.app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§1–2 · הבעיה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הבעיה: מציאת עזרה איטית וחד-כיוונית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20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מחפשים, משווים ומתקשרים לספקים אחד-אחד — הספקים אפילו לא רואים שיש ביקוש.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20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אמון יקר לבנייה, וצריך לפעול בשני הכיוונים — גם מבקש זדוני מסוכן לעוזר.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20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הזמינות אטומה — מי פנוי וקרוב עכשיו? אילו בקשות פתוחות בסביבה?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20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משימות קטנות ומתאימות להתנדבות נופלות בין הכיסאות.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iHelp הופך את זה: הביקוש מתפרסם פעם אחת, וההיצע מגיע אליו.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§1 · המוצר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הפתרון: שוק עזרה הפוך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מבקש מפרסם בקשה אחת — כותרת, תיאור, קטגוריה, תמונות, מיקום.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עוזרים מאומתים מתחרים בהצעות — התמחור שלהם: קבוע / התנדבות / לאחר העבודה.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המבקש משווה ובוחר הצעה אחת — כל השאר נסגרות אוטומטית.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שני הצדדים מאשרים סיום, והמבקש מדרג את העוזר.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ההיפוך הוא כל הרעיון — וכל כלל נאכף על ידי מסד הנתונים.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§3–4 · משתמשים וערך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משתמשים, לקוח, וערך עסקי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חשבון אחד, כמה כובעים — ההרשאות לפי שורה, לא לפי חשבון.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שלושה תפקידים: מבקש · עוזר מאומת (תג מקצועי אופציונלי) · מנהל.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הלקוח = העוזר המקצועי. iHelp הוא ערוץ lead-generation.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מבקשים חינמיים בכוונה — חיוב הביקוש היה הורג את הנזילות.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אמון סימטרי: שני הצדדים עוברים אימות זהות לפני העסקה הראשונה.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§8 · הדגמה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FFFFFF"/>
                </a:solidFill>
                <a:latin typeface="Arial"/>
              </a:rPr>
              <a:t>הדגמה חיה — לולאת הליבה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44200" y="1783080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46504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 lang="he-IL">
                <a:solidFill>
                  <a:srgbClr val="FFFFFF"/>
                </a:solidFill>
                <a:latin typeface="Arial"/>
              </a:rPr>
              <a:t>פרסום בקשה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 lang="he-IL">
                <a:solidFill>
                  <a:srgbClr val="D9E8E1"/>
                </a:solidFill>
                <a:latin typeface="Arial"/>
              </a:rPr>
              <a:t>כותרת, תיאור, תמונה, מיקום → סטטוס "פתוחה"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44200" y="2679191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5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 lang="he-IL">
                <a:solidFill>
                  <a:srgbClr val="FFFFFF"/>
                </a:solidFill>
                <a:latin typeface="Arial"/>
              </a:rPr>
              <a:t>הגשת הצעה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44951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 lang="he-IL">
                <a:solidFill>
                  <a:srgbClr val="D9E8E1"/>
                </a:solidFill>
                <a:latin typeface="Arial"/>
              </a:rPr>
              <a:t>עוזר בוחר עמדת תמחור — הצעה אטומה, לא רואה מתחרים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44200" y="3575303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7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 lang="he-IL">
                <a:solidFill>
                  <a:srgbClr val="FFFFFF"/>
                </a:solidFill>
                <a:latin typeface="Arial"/>
              </a:rPr>
              <a:t>השוואה + בחירה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3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 lang="he-IL">
                <a:solidFill>
                  <a:srgbClr val="D9E8E1"/>
                </a:solidFill>
                <a:latin typeface="Arial"/>
              </a:rPr>
              <a:t>בחירה אטומית: סוגרת את כל השאר בטרנזקציה אחת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44200" y="4471416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 lang="he-IL">
                <a:solidFill>
                  <a:srgbClr val="FFFFFF"/>
                </a:solidFill>
                <a:latin typeface="Arial"/>
              </a:rPr>
              <a:t>סיום דו-צדדי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 lang="he-IL">
                <a:solidFill>
                  <a:srgbClr val="D9E8E1"/>
                </a:solidFill>
                <a:latin typeface="Arial"/>
              </a:rPr>
              <a:t>שני הצדדים מאשרים → רק אז "הושלמה"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5367527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30951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 lang="he-IL">
                <a:solidFill>
                  <a:srgbClr val="FFFFFF"/>
                </a:solidFill>
                <a:latin typeface="Arial"/>
              </a:rPr>
              <a:t>דירוג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33288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 lang="he-IL">
                <a:solidFill>
                  <a:srgbClr val="D9E8E1"/>
                </a:solidFill>
                <a:latin typeface="Arial"/>
              </a:rPr>
              <a:t>המבקש מדרג → עמוד מוניטין מתעדכן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§5–6 · ארכיטקטורה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ארכיטקטורה: המסד הוא הסמכות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שלוש שכבות: React · Next.js על Vercel · Supabase (Postgres + RLS, Auth, Storage).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קריאות = Server Components · כתיבות = Server Actions · אין שרת API נפרד.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כל הרשאה נאכפת ב-Postgres: RLS + 11 פונקציות SECURITY DEFINER + טריגרים.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האפליקציה לעולם לא משתמשת במפתח service-role.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ההחלטה המרכזית: פיצול profiles/profiles_private — RLS היא ברמת שורה.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§7 · מסד הנתונים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מסד הנתונים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7 טבלאות · 14 מיגרציות SQL — הן מקור האמת.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מכונת מצבים: open → has_offers → assigned → completed → rated.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enums לערכים סגורים → מצב לא-חוקי הופך לשגיאת טיפוס.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אינדקס לכל שאילתה חמה · כל מדיניות RLS נושאת את הצדקתה.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דוגמה: הצעות אטומות — רק בעל ההצעה ובעל הבקשה קוראים אותה.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§9 · בדיקות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בדיקות: מוכיחים שהמסד אומר "לא"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62 בדיקות אוטומטיות (61 Vitest + Playwright E2E) — כולן עוברות.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15 בדיקות הרשאה תוקפות את המסד כמשתמש הלא-נכון ומוודאות דחייה.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בדיקת happy-path בלבד לא מוכיחה כלום — בודקים גם דחייה.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E2E מלא מריץ את כל הלולאה בשני דפדפנים נפרדים.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הבדיקות מאורגנות סביב טענת האבטחה: שהמסד אוכף כל כלל.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§10 · סקייל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איך חשבנו על סקייל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מתוכנן לעשרות משתמשים ומאות בקשות — כל מנגנון פשוט ונכון.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פיד מוגבל ל-200 + מיון Haversine ב-TypeScript + 12 לעמוד.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אינדקס לכל שאילתה כבדה · קריאות בשרת · אין client cache.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700"/>
              </a:spcAft>
            </a:pPr>
            <a:r>
              <a:rPr sz="1900" lang="he-IL">
                <a:solidFill>
                  <a:srgbClr val="0E1F18"/>
                </a:solidFill>
                <a:latin typeface="Arial"/>
              </a:rPr>
              <a:t>לכל מגבלה יש signal מפורש ויורש נקוב — כולם additive.  </a:t>
            </a:r>
            <a:r>
              <a:rPr sz="15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מה שנשבר ראשון הוא תור האדמין האנושי, לא המסד — ואומרים זאת בכנות.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§11 · אבטחה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איך חשבנו על אבטחה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ארבע שכבות אכיפה, רק האחרונה נאמנת — המסד.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Authentication: Supabase Auth (bcrypt), עוגיות HttpOnly, JWT בכל קריאה.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מפתח anon פומבי בטוח כי RLS היא הסמכות · service-role באפס שורות קוד.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800" lang="he-IL">
                <a:solidFill>
                  <a:srgbClr val="0E1F18"/>
                </a:solidFill>
                <a:latin typeface="Arial"/>
              </a:rPr>
              <a:t>XSS · CSRF · SQL injection — כולם מנוטרלים מבנית.  </a:t>
            </a:r>
            <a:r>
              <a:rPr sz="14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רשימת סיכונים כנה (R1–R10), כולל באג אמיתי שנתפס ותוקן.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 lang="he-IL">
                <a:solidFill>
                  <a:srgbClr val="0F6B4F"/>
                </a:solidFill>
                <a:latin typeface="Arial"/>
              </a:rPr>
              <a:t>§12 · שיפורים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Arial"/>
              </a:rPr>
              <a:t>iHelp · 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400" b="1" lang="he-IL">
                <a:solidFill>
                  <a:srgbClr val="0E1F18"/>
                </a:solidFill>
                <a:latin typeface="Arial"/>
              </a:rPr>
              <a:t>מה היינו משפרים עם עוד זמן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צ'אט בתוך האפליקציה בין הצדדים המשובצים.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SMS OTP לאימות אמיתי של הטלפון.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התראות בתוך האפליקציה — בלי לרענן ידנית.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  <a:p>
            <a:pPr algn="r" rtl="1">
              <a:spcBef>
                <a:spcPts val="0"/>
              </a:spcBef>
              <a:spcAft>
                <a:spcPts val="1800"/>
              </a:spcAft>
            </a:pPr>
            <a:r>
              <a:rPr sz="2000" lang="he-IL">
                <a:solidFill>
                  <a:srgbClr val="0E1F18"/>
                </a:solidFill>
                <a:latin typeface="Arial"/>
              </a:rPr>
              <a:t>מוניטין גם לצד המבקש — לסגור את סימטריית האמון.  </a:t>
            </a:r>
            <a:r>
              <a:rPr sz="1600" lang="he-IL">
                <a:solidFill>
                  <a:srgbClr val="0F6B4F"/>
                </a:solidFill>
                <a:latin typeface="Arial"/>
              </a:rPr>
              <a:t>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 lang="he-IL">
                <a:solidFill>
                  <a:srgbClr val="0F6B4F"/>
                </a:solidFill>
                <a:latin typeface="Arial"/>
              </a:rPr>
              <a:t>כל אלה היו קיצוצים מכוונים — MVP קטן, נקי ומאובטח.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D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1500" b="1" lang="he-IL">
                <a:solidFill>
                  <a:srgbClr val="9FD3C2"/>
                </a:solidFill>
                <a:latin typeface="Arial"/>
              </a:rPr>
              <a:t>סיכום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601200" cy="2011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2000"/>
              </a:spcAft>
            </a:pPr>
            <a:r>
              <a:rPr sz="2500" b="1" lang="he-IL">
                <a:solidFill>
                  <a:srgbClr val="FFFFFF"/>
                </a:solidFill>
                <a:latin typeface="Arial"/>
              </a:rPr>
              <a:t>iHelp הופך את החיפוש אחרי עזרה — מפרסמים פעם אחת ושכנים מאומתים מתחרים לעזור לך — וכל שורה בו בנויה כך שמסד הנתונים עצמו אוכף את האמון.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60520"/>
            <a:ext cx="1033272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2200" b="1" lang="he-IL">
                <a:solidFill>
                  <a:srgbClr val="9FD3C2"/>
                </a:solidFill>
                <a:latin typeface="Arial"/>
              </a:rPr>
              <a:t>קטן · נקי · עובד · מאובטח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327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ihelp-roan.vercel.app · github.com/YuvGev00/ihelp</a:t>
            </a:r>
          </a:p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2000" b="1" lang="he-IL">
                <a:solidFill>
                  <a:srgbClr val="FFFFFF"/>
                </a:solidFill>
                <a:latin typeface="Arial"/>
              </a:rPr>
              <a:t>תודה —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