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3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377440"/>
          </a:xfrm>
          <a:prstGeom prst="rect">
            <a:avLst/>
          </a:prstGeom>
          <a:solidFill>
            <a:srgbClr val="0B4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94960" y="1051560"/>
            <a:ext cx="1371600" cy="1371600"/>
          </a:xfrm>
          <a:prstGeom prst="rect">
            <a:avLst/>
          </a:prstGeom>
          <a:solidFill>
            <a:srgbClr val="1A9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94960" y="1051560"/>
            <a:ext cx="137160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10972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1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iHelp — מבקשים עזרה, העוזרים מגיעים אליכם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1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D9E8E1"/>
                </a:solidFill>
                <a:latin typeface="Arial"/>
              </a:rPr>
              <a:t>שוק עזרה הפוך — מפרסמים בקשה אחת, ושכנים מאומתים מתחרים לעזור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ADA4"/>
                </a:solidFill>
                <a:latin typeface="Arial"/>
              </a:rPr>
              <a:t>פרויקט גמר · Internet Technologies — Become a Full-Stack Engineer · RUNI CS 2026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9D72"/>
                </a:solidFill>
                <a:latin typeface="Arial"/>
              </a:rPr>
              <a:t>ihelp-roan.vercel.app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§1–2 · הבעיה והמוצר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0231B"/>
                </a:solidFill>
                <a:latin typeface="Arial"/>
              </a:rPr>
              <a:t>הבעיה: מציאת עזרה איטית וחד-כיוונית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5400"/>
          </a:xfrm>
          <a:prstGeom prst="rect">
            <a:avLst/>
          </a:prstGeom>
          <a:solidFill>
            <a:srgbClr val="D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900" b="1">
                <a:solidFill>
                  <a:srgbClr val="0F6B4F"/>
                </a:solidFill>
                <a:latin typeface="Arial"/>
              </a:rPr>
              <a:t>•  </a:t>
            </a:r>
            <a:r>
              <a:rPr sz="1900">
                <a:solidFill>
                  <a:srgbClr val="10231B"/>
                </a:solidFill>
                <a:latin typeface="Arial"/>
              </a:rPr>
              <a:t>הגילוי איטי וחד-כיווני — מחפשים, משווים, ומתקשרים לספקים אחד-אחד. הספקים אפילו לא רואים שיש ביקוש.</a:t>
            </a:r>
          </a:p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900" b="1">
                <a:solidFill>
                  <a:srgbClr val="0F6B4F"/>
                </a:solidFill>
                <a:latin typeface="Arial"/>
              </a:rPr>
              <a:t>•  </a:t>
            </a:r>
            <a:r>
              <a:rPr sz="1900">
                <a:solidFill>
                  <a:srgbClr val="10231B"/>
                </a:solidFill>
                <a:latin typeface="Arial"/>
              </a:rPr>
              <a:t>אמון יקר לבנייה — וצריך לפעול בשני הכיוונים: גם מבקש זדוני מסוכן לעוזר, לא רק להפך.</a:t>
            </a:r>
          </a:p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900" b="1">
                <a:solidFill>
                  <a:srgbClr val="0F6B4F"/>
                </a:solidFill>
                <a:latin typeface="Arial"/>
              </a:rPr>
              <a:t>•  </a:t>
            </a:r>
            <a:r>
              <a:rPr sz="1900">
                <a:solidFill>
                  <a:srgbClr val="10231B"/>
                </a:solidFill>
                <a:latin typeface="Arial"/>
              </a:rPr>
              <a:t>הזמינות אטומה — מי פנוי וקרוב עכשיו? אילו בקשות פתוחות בסביבה?</a:t>
            </a:r>
          </a:p>
          <a:p>
            <a:pPr algn="r" rtl="1">
              <a:spcBef>
                <a:spcPts val="0"/>
              </a:spcBef>
              <a:spcAft>
                <a:spcPts val="1600"/>
              </a:spcAft>
            </a:pPr>
            <a:r>
              <a:rPr sz="1900" b="1">
                <a:solidFill>
                  <a:srgbClr val="0F6B4F"/>
                </a:solidFill>
                <a:latin typeface="Arial"/>
              </a:rPr>
              <a:t>•  </a:t>
            </a:r>
            <a:r>
              <a:rPr sz="1900">
                <a:solidFill>
                  <a:srgbClr val="10231B"/>
                </a:solidFill>
                <a:latin typeface="Arial"/>
              </a:rPr>
              <a:t>משימות קטנות ומתאימות להתנדבות נופלות בין הכיסאות — יש שכנים מוכנים, אין ערוץ שמחבר.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C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B4F"/>
                </a:solidFill>
                <a:latin typeface="Arial"/>
              </a:rPr>
              <a:t>iHelp הופך את זה: הביקוש מתפרסם פעם אחת, וההיצע מגיע אליו.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§1 · מה המוצר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0231B"/>
                </a:solidFill>
                <a:latin typeface="Arial"/>
              </a:rPr>
              <a:t>הפתרון: שוק עזרה הפוך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5400"/>
          </a:xfrm>
          <a:prstGeom prst="rect">
            <a:avLst/>
          </a:prstGeom>
          <a:solidFill>
            <a:srgbClr val="D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0"/>
              </a:spcBef>
              <a:spcAft>
                <a:spcPts val="1500"/>
              </a:spcAft>
            </a:pPr>
            <a:r>
              <a:rPr sz="1900" b="1">
                <a:solidFill>
                  <a:srgbClr val="0F6B4F"/>
                </a:solidFill>
                <a:latin typeface="Arial"/>
              </a:rPr>
              <a:t>•  </a:t>
            </a:r>
            <a:r>
              <a:rPr sz="1900">
                <a:solidFill>
                  <a:srgbClr val="10231B"/>
                </a:solidFill>
                <a:latin typeface="Arial"/>
              </a:rPr>
              <a:t>מבקש מפרסם בקשה אחת: כותרת, תיאור, קטגוריה, תמונות ומיקום — ללא בחירת תמחור.</a:t>
            </a:r>
          </a:p>
          <a:p>
            <a:pPr algn="r" rtl="1">
              <a:spcBef>
                <a:spcPts val="0"/>
              </a:spcBef>
              <a:spcAft>
                <a:spcPts val="1500"/>
              </a:spcAft>
            </a:pPr>
            <a:r>
              <a:rPr sz="1900" b="1">
                <a:solidFill>
                  <a:srgbClr val="0F6B4F"/>
                </a:solidFill>
                <a:latin typeface="Arial"/>
              </a:rPr>
              <a:t>•  </a:t>
            </a:r>
            <a:r>
              <a:rPr sz="1900">
                <a:solidFill>
                  <a:srgbClr val="10231B"/>
                </a:solidFill>
                <a:latin typeface="Arial"/>
              </a:rPr>
              <a:t>עוזרים מאומתים בסביבה מתחרים בהצעות — התמחור כולו שלהם: מחיר קבוע / התנדבות / מחיר לאחר העבודה.</a:t>
            </a:r>
          </a:p>
          <a:p>
            <a:pPr algn="r" rtl="1">
              <a:spcBef>
                <a:spcPts val="0"/>
              </a:spcBef>
              <a:spcAft>
                <a:spcPts val="1500"/>
              </a:spcAft>
            </a:pPr>
            <a:r>
              <a:rPr sz="1900" b="1">
                <a:solidFill>
                  <a:srgbClr val="0F6B4F"/>
                </a:solidFill>
                <a:latin typeface="Arial"/>
              </a:rPr>
              <a:t>•  </a:t>
            </a:r>
            <a:r>
              <a:rPr sz="1900">
                <a:solidFill>
                  <a:srgbClr val="10231B"/>
                </a:solidFill>
                <a:latin typeface="Arial"/>
              </a:rPr>
              <a:t>המבקש משווה הצעות (פרופיל, תג, דירוג, מחיר) ובוחר אחת — כל השאר נסגרות אוטומטית.</a:t>
            </a:r>
          </a:p>
          <a:p>
            <a:pPr algn="r" rtl="1">
              <a:spcBef>
                <a:spcPts val="0"/>
              </a:spcBef>
              <a:spcAft>
                <a:spcPts val="1500"/>
              </a:spcAft>
            </a:pPr>
            <a:r>
              <a:rPr sz="1900" b="1">
                <a:solidFill>
                  <a:srgbClr val="0F6B4F"/>
                </a:solidFill>
                <a:latin typeface="Arial"/>
              </a:rPr>
              <a:t>•  </a:t>
            </a:r>
            <a:r>
              <a:rPr sz="1900">
                <a:solidFill>
                  <a:srgbClr val="10231B"/>
                </a:solidFill>
                <a:latin typeface="Arial"/>
              </a:rPr>
              <a:t>שני הצדדים מאשרים סיום, והמבקש מדרג את העוזר. המוניטין מצטבר.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C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B4F"/>
                </a:solidFill>
                <a:latin typeface="Arial"/>
              </a:rPr>
              <a:t>ההיפוך הוא כל הרעיון — וכל כלל נאכף על ידי מסד הנתונים עצמו.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§3–4 · משתמשים וערך עסקי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0231B"/>
                </a:solidFill>
                <a:latin typeface="Arial"/>
              </a:rPr>
              <a:t>משתמשים, לקוח, וערך עסקי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5400"/>
          </a:xfrm>
          <a:prstGeom prst="rect">
            <a:avLst/>
          </a:prstGeom>
          <a:solidFill>
            <a:srgbClr val="D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חשבון אחד, כמה כובעים — אותו אדם מבקש בבוקר ועוזר אחר הצהריים. ההרשאות לפי שורה, לא לפי חשבון.</a:t>
            </a:r>
          </a:p>
          <a:p>
            <a:pPr algn="r" rtl="1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שלושה תפקידים: מבקש · עוזר מאומת (עם תג מקצועי אופציונלי) · מנהל.</a:t>
            </a:r>
          </a:p>
          <a:p>
            <a:pPr algn="r" rtl="1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הלקוח = העוזר המקצועי. iHelp הוא ערוץ lead-generation — מספק ביקוש מקומי מוכן-לקנייה.</a:t>
            </a:r>
          </a:p>
          <a:p>
            <a:pPr algn="r" rtl="1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מבקשים חינמיים בכוונה — חיוב הביקוש היה הורג את הנזילות שמעניקה ערך להיצע.</a:t>
            </a:r>
          </a:p>
          <a:p>
            <a:pPr algn="r" rtl="1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אמון סימטרי — שני הצדדים עוברים אימות זהות בבדיקת מנהל לפני העסקה הראשונה.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C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B4F"/>
                </a:solidFill>
                <a:latin typeface="Arial"/>
              </a:rPr>
              <a:t>הערך העסקי: מודל מונטיזציה עתידי מוכן — בלי להפעיל תשלומים עכשיו.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3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§8 · התהליכים המרכזיים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הדגמה חיה — לולאת הליבה המלאה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98480" y="1600200"/>
            <a:ext cx="685800" cy="685800"/>
          </a:xfrm>
          <a:prstGeom prst="rect">
            <a:avLst/>
          </a:prstGeom>
          <a:solidFill>
            <a:srgbClr val="1A9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1600200"/>
            <a:ext cx="6858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81912"/>
            <a:ext cx="99669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פרסום בקשה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84248"/>
            <a:ext cx="99669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9C7C0"/>
                </a:solidFill>
                <a:latin typeface="Arial"/>
              </a:rPr>
              <a:t>כותרת, תיאור, קטגוריה, תמונה, מיקום על המפה → סטטוס "פתוחה"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98480" y="2532888"/>
            <a:ext cx="685800" cy="685800"/>
          </a:xfrm>
          <a:prstGeom prst="rect">
            <a:avLst/>
          </a:prstGeom>
          <a:solidFill>
            <a:srgbClr val="1A9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2532888"/>
            <a:ext cx="6858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99669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הגשת הצעה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99669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9C7C0"/>
                </a:solidFill>
                <a:latin typeface="Arial"/>
              </a:rPr>
              <a:t>עוזר בוחר עמדת תמחור (קבוע ₪120) — הצעה אטומה, לא רואה מתחרים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98480" y="3465576"/>
            <a:ext cx="685800" cy="685800"/>
          </a:xfrm>
          <a:prstGeom prst="rect">
            <a:avLst/>
          </a:prstGeom>
          <a:solidFill>
            <a:srgbClr val="1A9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0" y="3465576"/>
            <a:ext cx="6858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47288"/>
            <a:ext cx="99669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השוואה + בחירה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9624"/>
            <a:ext cx="99669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9C7C0"/>
                </a:solidFill>
                <a:latin typeface="Arial"/>
              </a:rPr>
              <a:t>שולחן השוואה, מיון/סינון → בחירה אטומית: סוגרת את כל השאר בטרנזקציה אחת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98480" y="4398264"/>
            <a:ext cx="685800" cy="685800"/>
          </a:xfrm>
          <a:prstGeom prst="rect">
            <a:avLst/>
          </a:prstGeom>
          <a:solidFill>
            <a:srgbClr val="1A9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0" y="4398264"/>
            <a:ext cx="6858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79976"/>
            <a:ext cx="99669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סיום דו-צדדי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782312"/>
            <a:ext cx="99669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9C7C0"/>
                </a:solidFill>
                <a:latin typeface="Arial"/>
              </a:rPr>
              <a:t>שני הצדדים מאשרים → רק אז "הושלמה". מנגנון ההוגנות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98480" y="5330952"/>
            <a:ext cx="685800" cy="685800"/>
          </a:xfrm>
          <a:prstGeom prst="rect">
            <a:avLst/>
          </a:prstGeom>
          <a:solidFill>
            <a:srgbClr val="1A9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0" y="5330952"/>
            <a:ext cx="6858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12664"/>
            <a:ext cx="99669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דירוג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15000"/>
            <a:ext cx="99669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9C7C0"/>
                </a:solidFill>
                <a:latin typeface="Arial"/>
              </a:rPr>
              <a:t>המבקש מדרג 1–5 → עמוד מוניטין מתעדכן, בלי לחשוף מי דירג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§5–6 · איך המערכת בנויה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0231B"/>
                </a:solidFill>
                <a:latin typeface="Arial"/>
              </a:rPr>
              <a:t>ארכיטקטורה: המסד הוא הסמכות היחידה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5400"/>
          </a:xfrm>
          <a:prstGeom prst="rect">
            <a:avLst/>
          </a:prstGeom>
          <a:solidFill>
            <a:srgbClr val="D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שלוש שכבות, מעט חלקים נעים: React בדפדפן · Next.js (App Router) על Vercel · Supabase (Postgres + RLS, Auth, Storage).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קריאות = Server Components · כתיבות = Server Actions · אין שרת API נפרד.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התזה: כל הרשאה נאכפת ב-Postgres — RLS + 11 פונקציות SECURITY DEFINER + טריגרים.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הממשק והקוד חוזרים על הבדיקות רק להודעה ידידותית — בקשה מזויפת עדיין נבלמת במסד.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לכן האפליקציה לעולם לא משתמשת במפתח service-role.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C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B4F"/>
                </a:solidFill>
                <a:latin typeface="Arial"/>
              </a:rPr>
              <a:t>ההחלטה שאני גאה בה: פיצול profiles/profiles_private — RLS היא ברמת שורה, לא עמודה.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§7 · בסיס הנתונים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0231B"/>
                </a:solidFill>
                <a:latin typeface="Arial"/>
              </a:rPr>
              <a:t>מסד הנתונים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5400"/>
          </a:xfrm>
          <a:prstGeom prst="rect">
            <a:avLst/>
          </a:prstGeom>
          <a:solidFill>
            <a:srgbClr val="D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7 טבלאות: profiles · profiles_private · verification_applications · help_requests · offers · request_photos · ratings.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מכונת מצבים: open → has_offers → assigned → completed → rated (+ cancelled) — enum + חותמת זמן לכל מצב.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enums לערכים סגורים → מצב לא-חוקי הופך לשגיאת טיפוס.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אינדקסים לכל נתיב שאילתה חם (כולל partial), וכל מדיניות RLS נושאת את הצדקת המוצר שלה.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14 מיגרציות SQL — הן מקור האמת: הקוד סומך על המסד.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C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B4F"/>
                </a:solidFill>
                <a:latin typeface="Arial"/>
              </a:rPr>
              <a:t>דוגמה: offers_select = הצעות אטומות — רק בעל ההצעה ובעל הבקשה קוראים אותה.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§9 · בדיקות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8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0231B"/>
                </a:solidFill>
                <a:latin typeface="Arial"/>
              </a:rPr>
              <a:t>בדיקות: מוכיחים שהמסד אומר "לא"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5400"/>
          </a:xfrm>
          <a:prstGeom prst="rect">
            <a:avLst/>
          </a:prstGeom>
          <a:solidFill>
            <a:srgbClr val="D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62 בדיקות אוטומטיות (61 Vitest + Playwright E2E) — כולן עוברות.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המעניינות: 15 בדיקות הרשאה (P1–P15) שתוקפות את המסד כמשתמש הלא-נכון ומוודאות דחייה.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בדיקת happy-path בלבד לא מוכיחה כלום — כל בדיקת הרשאה מוודאת גם דחייה.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בדיקות מסד (D1–D10): unique, CHECK, טריגרים · מקרי קצה (X1–X6): מרוצים, idempotency.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E2E מלא ב-Playwright — מריץ את כל הלולאה בשני דפדפנים נפרדים.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C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B4F"/>
                </a:solidFill>
                <a:latin typeface="Arial"/>
              </a:rPr>
              <a:t>הפילוסופיה: הבדיקות מאורגנות סביב טענת האבטחה — שהמסד אוכף כל כלל.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§10 · סקייל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0231B"/>
                </a:solidFill>
                <a:latin typeface="Arial"/>
              </a:rPr>
              <a:t>איך חשבנו על סקייל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5400"/>
          </a:xfrm>
          <a:prstGeom prst="rect">
            <a:avLst/>
          </a:prstGeom>
          <a:solidFill>
            <a:srgbClr val="D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מתוכנן לאזור פיילוט: עשרות משתמשים, מאות בקשות — כל מנגנון פשוט ונכון בתוך המעטפת הזו.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הפיד מוגבל ל-200 שורות + מיון Haversine ב-TypeScript (בלי PostGIS) + 12 לעמוד via URL.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אינדקס לכל שאילתה כבדה · column lists לא * · תמונות נחתמות per-page.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כל הקריאות בשרת (RSC) · כתיבות round-trip יחיד · אין client cache.</a:t>
            </a:r>
          </a:p>
          <a:p>
            <a:pPr algn="r" rtl="1">
              <a:spcBef>
                <a:spcPts val="0"/>
              </a:spcBef>
              <a:spcAft>
                <a:spcPts val="1100"/>
              </a:spcAft>
            </a:pPr>
            <a:r>
              <a:rPr sz="1700" b="1">
                <a:solidFill>
                  <a:srgbClr val="0F6B4F"/>
                </a:solidFill>
                <a:latin typeface="Arial"/>
              </a:rPr>
              <a:t>•  </a:t>
            </a:r>
            <a:r>
              <a:rPr sz="1700">
                <a:solidFill>
                  <a:srgbClr val="10231B"/>
                </a:solidFill>
                <a:latin typeface="Arial"/>
              </a:rPr>
              <a:t>לכל מגבלה יש signal מפורש ויורש נקוב — כולם additive.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C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B4F"/>
                </a:solidFill>
                <a:latin typeface="Arial"/>
              </a:rPr>
              <a:t>התובנה: מה שנשבר ראשון הוא תור האדמין האנושי, לא המסד — ואני אומר את זה בכנות.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§11 · אבטחה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0231B"/>
                </a:solidFill>
                <a:latin typeface="Arial"/>
              </a:rPr>
              <a:t>איך חשבנו על אבטחה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5400"/>
          </a:xfrm>
          <a:prstGeom prst="rect">
            <a:avLst/>
          </a:prstGeom>
          <a:solidFill>
            <a:srgbClr val="D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0F6B4F"/>
                </a:solidFill>
                <a:latin typeface="Arial"/>
              </a:rPr>
              <a:t>•  </a:t>
            </a:r>
            <a:r>
              <a:rPr sz="1600">
                <a:solidFill>
                  <a:srgbClr val="10231B"/>
                </a:solidFill>
                <a:latin typeface="Arial"/>
              </a:rPr>
              <a:t>ארבע שכבות אכיפה, ורק האחרונה נאמנת: middleware · UI · Server Actions · מסד הנתונים.</a:t>
            </a:r>
          </a:p>
          <a:p>
            <a:pPr algn="r" rtl="1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0F6B4F"/>
                </a:solidFill>
                <a:latin typeface="Arial"/>
              </a:rPr>
              <a:t>•  </a:t>
            </a:r>
            <a:r>
              <a:rPr sz="1600">
                <a:solidFill>
                  <a:srgbClr val="10231B"/>
                </a:solidFill>
                <a:latin typeface="Arial"/>
              </a:rPr>
              <a:t>Authentication: Supabase Auth (bcrypt), עוגיות HttpOnly/Secure/SameSite, JWT בכל קריאה.</a:t>
            </a:r>
          </a:p>
          <a:p>
            <a:pPr algn="r" rtl="1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0F6B4F"/>
                </a:solidFill>
                <a:latin typeface="Arial"/>
              </a:rPr>
              <a:t>•  </a:t>
            </a:r>
            <a:r>
              <a:rPr sz="1600">
                <a:solidFill>
                  <a:srgbClr val="10231B"/>
                </a:solidFill>
                <a:latin typeface="Arial"/>
              </a:rPr>
              <a:t>מפתח anon פומבי בטוח — כי RLS היא הסמכות · מפתח service-role באפס שורות קוד.</a:t>
            </a:r>
          </a:p>
          <a:p>
            <a:pPr algn="r" rtl="1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0F6B4F"/>
                </a:solidFill>
                <a:latin typeface="Arial"/>
              </a:rPr>
              <a:t>•  </a:t>
            </a:r>
            <a:r>
              <a:rPr sz="1600">
                <a:solidFill>
                  <a:srgbClr val="10231B"/>
                </a:solidFill>
                <a:latin typeface="Arial"/>
              </a:rPr>
              <a:t>XSS (React escaping) · CSRF (Server Actions + SameSite) · SQL injection (בלתי-אפשרי מבנית).</a:t>
            </a:r>
          </a:p>
          <a:p>
            <a:pPr algn="r" rtl="1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0F6B4F"/>
                </a:solidFill>
                <a:latin typeface="Arial"/>
              </a:rPr>
              <a:t>•  </a:t>
            </a:r>
            <a:r>
              <a:rPr sz="1600">
                <a:solidFill>
                  <a:srgbClr val="10231B"/>
                </a:solidFill>
                <a:latin typeface="Arial"/>
              </a:rPr>
              <a:t>רשימת סיכונים כנה (R1–R10) — כולל באג אמיתי שנתפס ותוקן (migration 0013).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C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B4F"/>
                </a:solidFill>
                <a:latin typeface="Arial"/>
              </a:rPr>
              <a:t>המפתח שהודבק בצ'אט (secret) — לרוטט אחרי ההגשה. שאר הסודות ב-.env (gitignored).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B4F"/>
                </a:solidFill>
                <a:latin typeface="Arial"/>
              </a:rPr>
              <a:t>§12 · שיפורים עתידיים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8288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3635B"/>
                </a:solidFill>
                <a:latin typeface="Arial"/>
              </a:rPr>
              <a:t>iHelp · 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0231B"/>
                </a:solidFill>
                <a:latin typeface="Arial"/>
              </a:rPr>
              <a:t>מה היינו משפרים עם עוד זמן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25400"/>
          </a:xfrm>
          <a:prstGeom prst="rect">
            <a:avLst/>
          </a:prstGeom>
          <a:solidFill>
            <a:srgbClr val="DF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צ'אט בתוך האפליקציה בין הצדדים המשובצים — כרגע מחליפים מספרי טלפון.</a:t>
            </a:r>
          </a:p>
          <a:p>
            <a:pPr algn="r" rtl="1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SMS OTP לאימות אמיתי של הטלפון.</a:t>
            </a:r>
          </a:p>
          <a:p>
            <a:pPr algn="r" rtl="1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התראות בתוך האפליקציה — כדי לא לרענן ידנית.</a:t>
            </a:r>
          </a:p>
          <a:p>
            <a:pPr algn="r" rtl="1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מוניטין גם לצד המבקש — לסגור את סימטריית האמון במלואה.</a:t>
            </a:r>
          </a:p>
          <a:p>
            <a:pPr algn="r" rtl="1">
              <a:spcBef>
                <a:spcPts val="0"/>
              </a:spcBef>
              <a:spcAft>
                <a:spcPts val="1300"/>
              </a:spcAft>
            </a:pPr>
            <a:r>
              <a:rPr sz="1800" b="1">
                <a:solidFill>
                  <a:srgbClr val="0F6B4F"/>
                </a:solidFill>
                <a:latin typeface="Arial"/>
              </a:rPr>
              <a:t>•  </a:t>
            </a:r>
            <a:r>
              <a:rPr sz="1800">
                <a:solidFill>
                  <a:srgbClr val="10231B"/>
                </a:solidFill>
                <a:latin typeface="Arial"/>
              </a:rPr>
              <a:t>כל אלה היו קיצוצים מכוונים כדי לשמור על MVP קטן, נקי ומאובטח.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C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05856"/>
            <a:ext cx="104241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r" rtl="1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B4F"/>
                </a:solidFill>
                <a:latin typeface="Arial"/>
              </a:rPr>
              <a:t>הכול additive — אף שיפור לא דורש לבטל החלטה קיימת.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D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A9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1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FD3C2"/>
                </a:solidFill>
                <a:latin typeface="Arial"/>
              </a:rPr>
              <a:t>סיכום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 rtl="1">
              <a:spcBef>
                <a:spcPts val="0"/>
              </a:spcBef>
              <a:spcAft>
                <a:spcPts val="18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iHelp הופך את החיפוש אחרי עזרה — מפרסמים פעם אחת ושכנים מאומתים מתחרים לעזור לך — וכל שורה בו בנויה כך שמסד הנתונים עצמו אוכף את האמון.</a:t>
            </a:r>
          </a:p>
          <a:p>
            <a:pPr algn="ctr" rtl="1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9FD3C2"/>
                </a:solidFill>
                <a:latin typeface="Arial"/>
              </a:rPr>
              <a:t>קטן · נקי · עובד · מאובטח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ihelp-roan.vercel.app · github.com/YuvGev00/ihelp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תודה —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