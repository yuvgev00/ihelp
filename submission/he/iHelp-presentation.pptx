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1737360"/>
          </a:xfrm>
          <a:prstGeom prst="rect">
            <a:avLst/>
          </a:prstGeom>
          <a:solidFill>
            <a:srgbClr val="0B4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41264" y="1051560"/>
            <a:ext cx="1097280" cy="1097280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400" b="1" lang="he-IL">
                <a:solidFill>
                  <a:srgbClr val="FFFFFF"/>
                </a:solidFill>
                <a:latin typeface="Arial"/>
              </a:rPr>
              <a:t>מבקשים עזרה — העוזרים מגיעים אליכם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94760"/>
            <a:ext cx="9784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700" b="0" lang="he-IL">
                <a:solidFill>
                  <a:srgbClr val="D9E8E1"/>
                </a:solidFill>
                <a:latin typeface="Arial"/>
              </a:rPr>
              <a:t>שוק העזרה ההפוך: מפרסמים בקשה אחת, ושכנים מאומתים מתחרים על הזכות לעזור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AADA4"/>
                </a:solidFill>
                <a:latin typeface="Arial"/>
              </a:rPr>
              <a:t>פרויקט גמר · Internet Technologies — Become a Full-Stack Engineer · RUNI CS 2026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87A"/>
                </a:solidFill>
                <a:latin typeface="Arial"/>
              </a:rPr>
              <a:t>ihelp-roan.vercel.app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§1–2 · הבעיה שאנחנו פותרים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הבעיה: קשה למצוא עזרה אמינה במהירות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כשצריך עזרה, מחפשים לבד: מתקשרים לספק אחרי ספק, משווים, ומחכים שיחזרו אליך. זה איטי ומתיש.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קשה לדעת למי לבטוח. כל אחד יכול לטעון שהוא איש מקצוע, ואין לאן לבדוק.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גם העוזר בסיכון: הוא מגיע לבית של אדם זר, בלי לדעת מי הזמין אותו.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משימות קטנות — הסעה, עזרה בטופס, סחיבת רהיט — נופלות בין הכיסאות, כי אין ערוץ שמחבר אנשים.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0F6B4F"/>
                </a:solidFill>
                <a:latin typeface="Arial"/>
              </a:rPr>
              <a:t>iHelp הופך את הכיוון: במקום שתחפש עזרה, אתה מפרסם בקשה אחת — והעזרה מגיעה אליך.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§1 · מה המוצר עושה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הפתרון: מפרסמים פעם אחת, ונעזרים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המבקש מפרסם בקשת עזרה אחת — עם כותרת, תיאור, קטגוריה ומיקום על המפה.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עוזרים מאומתים באזור רואים את הבקשה, ומגישים הצעות. הם קובעים את המחיר: תשלום, התנדבות, או מחיר שייקבע בסוף.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המבקש רואה את כל ההצעות זו לצד זו, ובוחר אחת. כל שאר ההצעות נסגרות אוטומטית.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בסוף, שני הצדדים מאשרים שהעבודה בוצעה, והמבקש נותן דירוג לעוזר.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0F6B4F"/>
                </a:solidFill>
                <a:latin typeface="Arial"/>
              </a:rPr>
              <a:t>ההיפוך הזה הוא כל הרעיון — במקום שהביקוש ירדוף אחרי ההיצע, ההיצע מגיע לביקוש.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§3–4 · המשתמשים והערך העסקי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מי משתמש, ומאיפה מגיע הכסף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יש סוג חשבון אחד. אותו אדם יכול לבקש עזרה בבוקר, ולעזור למישהו אחר בערב.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שלושה תפקידים: מבקש עזרה, עוזר מאומת (עם אפשרות לתג 'מקצועי'), ומנהל שמאשר משתמשים.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המבקשים לא משלמים — בכוונה. אם היינו גובים מהם, פחות אנשים היו מפרסמים בקשות, ואז אין למי לעזור.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הכסף מגיע מהעוזרים המקצועיים: iHelp מביא להם לקוחות קרובים שכבר צריכים שירות.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0F6B4F"/>
                </a:solidFill>
                <a:latin typeface="Arial"/>
              </a:rPr>
              <a:t>כל משתמש — גם מבקש וגם עוזר — עובר אימות זהות לפני העסקה הראשונה. האמון הוא דו-כיווני.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§8 · התהליכים המרכזיים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000" b="1" lang="he-IL">
                <a:solidFill>
                  <a:srgbClr val="FFFFFF"/>
                </a:solidFill>
                <a:latin typeface="Arial"/>
              </a:rPr>
              <a:t>הדגמה חיה — כל המסע מהתחלה לסוף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44200" y="17830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282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000" b="1" lang="he-IL">
                <a:solidFill>
                  <a:srgbClr val="FFFFFF"/>
                </a:solidFill>
                <a:latin typeface="Arial"/>
              </a:rPr>
              <a:t>פרסום בקשה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0" lang="he-IL">
                <a:solidFill>
                  <a:srgbClr val="D9E8E1"/>
                </a:solidFill>
                <a:latin typeface="Arial"/>
              </a:rPr>
              <a:t>המבקש כותב מה הוא צריך, מוסיף מיקום, ומפרסם. הבקשה עולה לפיד כ"פתוחה".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26974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426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000" b="1" lang="he-IL">
                <a:solidFill>
                  <a:srgbClr val="FFFFFF"/>
                </a:solidFill>
                <a:latin typeface="Arial"/>
              </a:rPr>
              <a:t>הגשת הצעה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0" lang="he-IL">
                <a:solidFill>
                  <a:srgbClr val="D9E8E1"/>
                </a:solidFill>
                <a:latin typeface="Arial"/>
              </a:rPr>
              <a:t>עוזר רואה את הבקשה, ומגיש הצעה עם מחיר. הוא לא רואה מה המתחרים הציעו.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44200" y="36118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000" b="1" lang="he-IL">
                <a:solidFill>
                  <a:srgbClr val="FFFFFF"/>
                </a:solidFill>
                <a:latin typeface="Arial"/>
              </a:rPr>
              <a:t>השוואה ובחירה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0" lang="he-IL">
                <a:solidFill>
                  <a:srgbClr val="D9E8E1"/>
                </a:solidFill>
                <a:latin typeface="Arial"/>
              </a:rPr>
              <a:t>המבקש רואה את כל ההצעות יחד, ובוחר אחת. כל השאר נסגרות אוטומטית.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44200" y="45262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714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000" b="1" lang="he-IL">
                <a:solidFill>
                  <a:srgbClr val="FFFFFF"/>
                </a:solidFill>
                <a:latin typeface="Arial"/>
              </a:rPr>
              <a:t>אישור דו-צדדי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0" lang="he-IL">
                <a:solidFill>
                  <a:srgbClr val="D9E8E1"/>
                </a:solidFill>
                <a:latin typeface="Arial"/>
              </a:rPr>
              <a:t>שני הצדדים מאשרים שהעבודה בוצעה — רק אז הבקשה נסגרת.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44200" y="54406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858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000" b="1" lang="he-IL">
                <a:solidFill>
                  <a:srgbClr val="FFFFFF"/>
                </a:solidFill>
                <a:latin typeface="Arial"/>
              </a:rPr>
              <a:t>דירוג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0" lang="he-IL">
                <a:solidFill>
                  <a:srgbClr val="D9E8E1"/>
                </a:solidFill>
                <a:latin typeface="Arial"/>
              </a:rPr>
              <a:t>המבקש נותן לעוזר דירוג, שנשמר בפרופיל הציבורי שלו.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§5–6 · איך המערכת בנויה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הארכיטקטורה: מסד הנתונים הוא הבוס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המערכת בנויה משלושה חלקים: הדפדפן שהמשתמש רואה, שרת Next.js שרץ בענן (Vercel), ומסד נתונים Supabase.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הרעיון המרכזי: כל כלל של 'מי מותר לו לעשות מה' נאכף בתוך מסד הנתונים עצמו — לא בקוד של האתר.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למה זה חשוב? כי גם אם מישהו ינסה לעקוף את האתר ולפנות ישירות למסד — המסד יסרב לו.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הקוד של האתר רק מראה הודעות ידידותיות. האבטחה האמיתית יושבת שכבה אחת עמוק יותר, במסד.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0F6B4F"/>
                </a:solidFill>
                <a:latin typeface="Arial"/>
              </a:rPr>
              <a:t>ההחלטה שאני הכי גאה בה: הפרדתי מידע פרטי (טלפון, מיקום) לטבלה נפרדת, שרק בעליה יכול לקרוא.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§7 · מסד הנתונים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איך בנוי מסד הנתונים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יש 7 טבלאות: משתמשים, בקשות, הצעות, דירוגים, אימותים ועוד. הכול מקושר ביניהם.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לכל בקשה יש 'מסלול חיים' קבוע: פתוחה ← יש הצעות ← שובצה ← הושלמה ← דורגה.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המסלול הזה נאכף במסד — אי אפשר לדלג שלב או לחזור אחורה בצורה לא חוקית.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כל כלל הרשאה במסד מלווה בהערה שמסבירה בדיוק איזה חוק מוצרי הוא שומר.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0F6B4F"/>
                </a:solidFill>
                <a:latin typeface="Arial"/>
              </a:rPr>
              <a:t>דוגמה: הצעה של עוזר גלויה רק לו ולמבקש. שום עוזר אחר לא רואה כמה המתחרים הציעו.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§9 · הבדיקות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הבדיקות: מוכיחים שהמערכת באמת מאובטחת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כתבתי 62 בדיקות אוטומטיות שרצות על המערכת, וכולן עוברות.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הבדיקות המעניינות ביותר מנסות לפרוץ: הן מתחזות למשתמש לא-מורשה ומנסות פעולה אסורה.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בדיקה שרק בודקת שהכול עובד לא מספיקה — אני בודק גם שהמערכת חוסמת את מי שאסור לו.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יש גם בדיקה שמריצה את כל המסע — פרסום, הצעה, בחירה, סיום — בשני דפדפנים במקביל, כמו משתמשים אמיתיים.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0F6B4F"/>
                </a:solidFill>
                <a:latin typeface="Arial"/>
              </a:rPr>
              <a:t>כל הבדיקות בנויות סביב הטענה המרכזית: שמסד הנתונים אוכף כל כלל, גם נגד מי שמנסה לרמות.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§10 · סקייל — צמיחה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איך המערכת תתמודד עם הרבה משתמשים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700" b="0" lang="he-IL">
                <a:solidFill>
                  <a:srgbClr val="0E1F18"/>
                </a:solidFill>
                <a:latin typeface="Arial"/>
              </a:rPr>
              <a:t>"סקייל" זה השאלה: מה יקרה כשבמקום 10 משתמשים יהיו 10,000? האם האתר יישאר מהיר?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514600"/>
            <a:ext cx="5257800" cy="548640"/>
          </a:xfrm>
          <a:prstGeom prst="round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578608"/>
            <a:ext cx="525780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700" b="1" lang="he-IL">
                <a:solidFill>
                  <a:srgbClr val="FFFFFF"/>
                </a:solidFill>
                <a:latin typeface="Arial"/>
              </a:rPr>
              <a:t>מה כבר בנוי לצמיחה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291840"/>
            <a:ext cx="525780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300"/>
              </a:spcAft>
            </a:pPr>
            <a:r>
              <a:rPr sz="1500" lang="he-IL">
                <a:solidFill>
                  <a:srgbClr val="0E1F18"/>
                </a:solidFill>
                <a:latin typeface="Arial"/>
              </a:rPr>
              <a:t>הפיד מביא רק 200 בקשות בכל פעם, לא את כולן — כדי שלא ייתקע.   </a:t>
            </a:r>
            <a:r>
              <a:rPr sz="10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300"/>
              </a:spcAft>
            </a:pPr>
            <a:r>
              <a:rPr sz="1500" lang="he-IL">
                <a:solidFill>
                  <a:srgbClr val="0E1F18"/>
                </a:solidFill>
                <a:latin typeface="Arial"/>
              </a:rPr>
              <a:t>מציגים 12 בקשות בעמוד, עם דפדוף — לא הכול בבת אחת.   </a:t>
            </a:r>
            <a:r>
              <a:rPr sz="10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300"/>
              </a:spcAft>
            </a:pPr>
            <a:r>
              <a:rPr sz="1500" lang="he-IL">
                <a:solidFill>
                  <a:srgbClr val="0E1F18"/>
                </a:solidFill>
                <a:latin typeface="Arial"/>
              </a:rPr>
              <a:t>יש 'אינדקסים' במסד — כמו סדר אלפביתי בספר טלפונים, שמאפשר למצוא מהר.   </a:t>
            </a:r>
            <a:r>
              <a:rPr sz="10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257800" cy="548640"/>
          </a:xfrm>
          <a:prstGeom prst="roundRect">
            <a:avLst/>
          </a:prstGeom>
          <a:solidFill>
            <a:srgbClr val="8A9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8"/>
            <a:ext cx="525780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700" b="1" lang="he-IL">
                <a:solidFill>
                  <a:srgbClr val="FFFFFF"/>
                </a:solidFill>
                <a:latin typeface="Arial"/>
              </a:rPr>
              <a:t>מה אשפר כשנגדל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25780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300"/>
              </a:spcAft>
            </a:pPr>
            <a:r>
              <a:rPr sz="1500" lang="he-IL">
                <a:solidFill>
                  <a:srgbClr val="0E1F18"/>
                </a:solidFill>
                <a:latin typeface="Arial"/>
              </a:rPr>
              <a:t>חישוב המרחק יעבור למסד עצמו, כדי לתמוך במיליוני בקשות.   </a:t>
            </a:r>
            <a:r>
              <a:rPr sz="10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300"/>
              </a:spcAft>
            </a:pPr>
            <a:r>
              <a:rPr sz="1500" lang="he-IL">
                <a:solidFill>
                  <a:srgbClr val="0E1F18"/>
                </a:solidFill>
                <a:latin typeface="Arial"/>
              </a:rPr>
              <a:t>אימות אוטומטי (SMS) במקום מנהל שמאשר ידנית כל משתמש.   </a:t>
            </a:r>
            <a:r>
              <a:rPr sz="10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300"/>
              </a:spcAft>
            </a:pPr>
            <a:r>
              <a:rPr sz="1500" lang="he-IL">
                <a:solidFill>
                  <a:srgbClr val="0E1F18"/>
                </a:solidFill>
                <a:latin typeface="Arial"/>
              </a:rPr>
              <a:t>כי מה שיישבר ראשון זה לא המחשב — זה האדם שמאשר ידנית.   </a:t>
            </a:r>
            <a:r>
              <a:rPr sz="10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§11 · אבטחה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איך שמרנו על אבטחה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ההתחברות מנוהלת על ידי Supabase — הסיסמאות מוצפנות, ואני אף פעם לא נוגע בהן ישירות.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לכל משתמש יש 'כרטיס זיהוי' מוצפן (JWT) שנשלח בכל פעולה, כדי שהמסד ידע מי הוא.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כל ההרשאות נאכפות במסד הנתונים. גם אם המפתח הציבורי של האתר ידלוף — הוא לא נותן שום גישה מעבר למשתמש רגיל.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המערכת מוגנת מפני שלושת סוגי המתקפות הנפוצים באינטרנט: XSS, CSRF, ו-SQL injection.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0F6B4F"/>
                </a:solidFill>
                <a:latin typeface="Arial"/>
              </a:rPr>
              <a:t>אני מתעד בכנות גם את הסיכונים שנשארו ומה הייתי משפר — כי אבטחה זה תהליך, לא נקודה.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lang="he-IL">
                <a:solidFill>
                  <a:srgbClr val="0F6B4F"/>
                </a:solidFill>
                <a:latin typeface="Arial"/>
              </a:rPr>
              <a:t>§12 · שיפורים עתידיים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Arial"/>
              </a:rPr>
              <a:t>iHelp ·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3200" b="1" lang="he-IL">
                <a:solidFill>
                  <a:srgbClr val="0E1F18"/>
                </a:solidFill>
                <a:latin typeface="Arial"/>
              </a:rPr>
              <a:t>מה הייתי מוסיף עם עוד זמן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צ'אט בתוך האפליקציה — היום הצדדים מחליפים מספרי טלפון ומתאמים בחוץ.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אימות טלפון אמיתי דרך SMS — כדי לחזק את בדיקת הזהות.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התראות — כדי שהמשתמש ידע שהגיעה הצעה חדשה בלי לרענן ידנית.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  <a:p>
            <a:pPr algn="r" rtl="1">
              <a:spcBef>
                <a:spcPts val="0"/>
              </a:spcBef>
              <a:spcAft>
                <a:spcPts val="1500"/>
              </a:spcAft>
            </a:pPr>
            <a:r>
              <a:rPr sz="1800" lang="he-IL">
                <a:solidFill>
                  <a:srgbClr val="0E1F18"/>
                </a:solidFill>
                <a:latin typeface="Arial"/>
              </a:rPr>
              <a:t>דירוג גם למבקשים — כדי שגם העוזרים ידעו למי הם באים לעזור.   </a:t>
            </a:r>
            <a:r>
              <a:rPr sz="1300" lang="he-IL">
                <a:solidFill>
                  <a:srgbClr val="0F6B4F"/>
                </a:solidFill>
                <a:latin typeface="Arial"/>
              </a:rPr>
              <a:t>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0F6B4F"/>
                </a:solidFill>
                <a:latin typeface="Arial"/>
              </a:rPr>
              <a:t>כל אלה הושארו בחוץ בכוונה. העדפתי מוצר קטן, נקי ומאובטח על פני מוצר גדול ולא יציב.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500" b="1" lang="he-IL">
                <a:solidFill>
                  <a:srgbClr val="9FD3C2"/>
                </a:solidFill>
                <a:latin typeface="Arial"/>
              </a:rPr>
              <a:t>לסיכום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9601200" cy="2011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2000"/>
              </a:spcAft>
            </a:pPr>
            <a:r>
              <a:rPr sz="2300" b="1" lang="he-IL">
                <a:solidFill>
                  <a:srgbClr val="FFFFFF"/>
                </a:solidFill>
                <a:latin typeface="Arial"/>
              </a:rPr>
              <a:t>iHelp הופך את החיפוש אחרי עזרה: מפרסמים פעם אחת, ושכנים מאומתים מתחרים לעזור לך. וכל שורה בו בנויה כך שמסד הנתונים עצמו אוכף את האמון.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2200" b="1" lang="he-IL">
                <a:solidFill>
                  <a:srgbClr val="9FD3C2"/>
                </a:solidFill>
                <a:latin typeface="Arial"/>
              </a:rPr>
              <a:t>קטן · נקי · עובד · מאובטח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ihelp-roan.vercel.app · github.com/YuvGev00/ihelp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2000" b="1" lang="he-IL">
                <a:solidFill>
                  <a:srgbClr val="FFFFFF"/>
                </a:solidFill>
                <a:latin typeface="Arial"/>
              </a:rPr>
              <a:t>תודה רבה — אשמח לשאלות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