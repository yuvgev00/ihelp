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1737360"/>
          </a:xfrm>
          <a:prstGeom prst="rect">
            <a:avLst/>
          </a:prstGeom>
          <a:solidFill>
            <a:srgbClr val="0B4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41264" y="1051560"/>
            <a:ext cx="1097280" cy="1097280"/>
          </a:xfrm>
          <a:prstGeom prst="round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80360"/>
            <a:ext cx="1033272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sz="3400" b="1" lang="en-US">
                <a:solidFill>
                  <a:srgbClr val="FFFFFF"/>
                </a:solidFill>
                <a:latin typeface="Calibri"/>
              </a:rPr>
              <a:t>Post a request — helpers come to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794760"/>
            <a:ext cx="941832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sz="1700" b="0" lang="en-US">
                <a:solidFill>
                  <a:srgbClr val="D9E8E1"/>
                </a:solidFill>
                <a:latin typeface="Calibri"/>
              </a:rPr>
              <a:t>A reversed help-marketplace: post one request, verified neighbors compete to help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 rtl="0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9AADA4"/>
                </a:solidFill>
                <a:latin typeface="Calibri"/>
              </a:rPr>
              <a:t>Final project · Internet Technologies — Become a Full-Stack Engineer · RUNI CS 2026</a:t>
            </a:r>
          </a:p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A87A"/>
                </a:solidFill>
                <a:latin typeface="Calibri"/>
              </a:rPr>
              <a:t>ihelp-roan.vercel.app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200" b="1" lang="en-US">
                <a:solidFill>
                  <a:srgbClr val="0F6B4F"/>
                </a:solidFill>
                <a:latin typeface="Calibri"/>
              </a:rPr>
              <a:t>§1–2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Calibri"/>
              </a:rPr>
              <a:t>iHelp · 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3400" b="1" lang="en-US">
                <a:solidFill>
                  <a:srgbClr val="0E1F18"/>
                </a:solidFill>
                <a:latin typeface="Calibri"/>
              </a:rPr>
              <a:t>The problem: help is slow and one-directional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64240" cy="31750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39319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 rtl="0"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●  </a:t>
            </a:r>
            <a:r>
              <a:rPr sz="2000">
                <a:solidFill>
                  <a:srgbClr val="0E1F18"/>
                </a:solidFill>
                <a:latin typeface="Calibri"/>
              </a:rPr>
              <a:t>You search, compare, and call providers one by one — they can't even see the demand.</a:t>
            </a:r>
          </a:p>
          <a:p>
            <a:pPr algn="l" rtl="0"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●  </a:t>
            </a:r>
            <a:r>
              <a:rPr sz="2000">
                <a:solidFill>
                  <a:srgbClr val="0E1F18"/>
                </a:solidFill>
                <a:latin typeface="Calibri"/>
              </a:rPr>
              <a:t>Trust is expensive, and must run both ways — a fake requester endangers a helper too.</a:t>
            </a:r>
          </a:p>
          <a:p>
            <a:pPr algn="l" rtl="0"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●  </a:t>
            </a:r>
            <a:r>
              <a:rPr sz="2000">
                <a:solidFill>
                  <a:srgbClr val="0E1F18"/>
                </a:solidFill>
                <a:latin typeface="Calibri"/>
              </a:rPr>
              <a:t>Availability is opaque — who's free and near right now? Which requests are open?</a:t>
            </a:r>
          </a:p>
          <a:p>
            <a:pPr algn="l" rtl="0"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●  </a:t>
            </a:r>
            <a:r>
              <a:rPr sz="2000">
                <a:solidFill>
                  <a:srgbClr val="0E1F18"/>
                </a:solidFill>
                <a:latin typeface="Calibri"/>
              </a:rPr>
              <a:t>Small, volunteer-suitable tasks fall through the cracks.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881360" cy="731520"/>
          </a:xfrm>
          <a:prstGeom prst="roundRect">
            <a:avLst/>
          </a:prstGeom>
          <a:solidFill>
            <a:srgbClr val="EA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05856"/>
            <a:ext cx="1033272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0F6B4F"/>
                </a:solidFill>
                <a:latin typeface="Calibri"/>
              </a:rPr>
              <a:t>iHelp reverses it: demand is published once, and supply comes to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200" b="1" lang="en-US">
                <a:solidFill>
                  <a:srgbClr val="0F6B4F"/>
                </a:solidFill>
                <a:latin typeface="Calibri"/>
              </a:rPr>
              <a:t>§1 ·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Calibri"/>
              </a:rPr>
              <a:t>iHelp · 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3400" b="1" lang="en-US">
                <a:solidFill>
                  <a:srgbClr val="0E1F18"/>
                </a:solidFill>
                <a:latin typeface="Calibri"/>
              </a:rPr>
              <a:t>The solution: a reversed marketplace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64240" cy="31750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39319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 rtl="0">
              <a:spcBef>
                <a:spcPts val="0"/>
              </a:spcBef>
              <a:spcAft>
                <a:spcPts val="18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●  </a:t>
            </a:r>
            <a:r>
              <a:rPr sz="2000">
                <a:solidFill>
                  <a:srgbClr val="0E1F18"/>
                </a:solidFill>
                <a:latin typeface="Calibri"/>
              </a:rPr>
              <a:t>A requester posts one request — title, description, category, photos, location.</a:t>
            </a:r>
          </a:p>
          <a:p>
            <a:pPr algn="l" rtl="0">
              <a:spcBef>
                <a:spcPts val="0"/>
              </a:spcBef>
              <a:spcAft>
                <a:spcPts val="18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●  </a:t>
            </a:r>
            <a:r>
              <a:rPr sz="2000">
                <a:solidFill>
                  <a:srgbClr val="0E1F18"/>
                </a:solidFill>
                <a:latin typeface="Calibri"/>
              </a:rPr>
              <a:t>Verified helpers compete with offers — pricing is theirs: fixed / volunteer / after-job.</a:t>
            </a:r>
          </a:p>
          <a:p>
            <a:pPr algn="l" rtl="0">
              <a:spcBef>
                <a:spcPts val="0"/>
              </a:spcBef>
              <a:spcAft>
                <a:spcPts val="18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●  </a:t>
            </a:r>
            <a:r>
              <a:rPr sz="2000">
                <a:solidFill>
                  <a:srgbClr val="0E1F18"/>
                </a:solidFill>
                <a:latin typeface="Calibri"/>
              </a:rPr>
              <a:t>The requester compares and picks one offer — all others close automatically.</a:t>
            </a:r>
          </a:p>
          <a:p>
            <a:pPr algn="l" rtl="0">
              <a:spcBef>
                <a:spcPts val="0"/>
              </a:spcBef>
              <a:spcAft>
                <a:spcPts val="18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●  </a:t>
            </a:r>
            <a:r>
              <a:rPr sz="2000">
                <a:solidFill>
                  <a:srgbClr val="0E1F18"/>
                </a:solidFill>
                <a:latin typeface="Calibri"/>
              </a:rPr>
              <a:t>Both sides confirm completion, and the requester rates the helper.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881360" cy="731520"/>
          </a:xfrm>
          <a:prstGeom prst="roundRect">
            <a:avLst/>
          </a:prstGeom>
          <a:solidFill>
            <a:srgbClr val="EA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05856"/>
            <a:ext cx="1033272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0F6B4F"/>
                </a:solidFill>
                <a:latin typeface="Calibri"/>
              </a:rPr>
              <a:t>The reversal is the whole idea — and every rule is enforced by the database.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200" b="1" lang="en-US">
                <a:solidFill>
                  <a:srgbClr val="0F6B4F"/>
                </a:solidFill>
                <a:latin typeface="Calibri"/>
              </a:rPr>
              <a:t>§3–4 · Users &amp;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Calibri"/>
              </a:rPr>
              <a:t>iHelp · 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3400" b="1" lang="en-US">
                <a:solidFill>
                  <a:srgbClr val="0E1F18"/>
                </a:solidFill>
                <a:latin typeface="Calibri"/>
              </a:rPr>
              <a:t>Users, customer, and business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64240" cy="31750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39319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 rtl="0">
              <a:spcBef>
                <a:spcPts val="0"/>
              </a:spcBef>
              <a:spcAft>
                <a:spcPts val="18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●  </a:t>
            </a:r>
            <a:r>
              <a:rPr sz="2000">
                <a:solidFill>
                  <a:srgbClr val="0E1F18"/>
                </a:solidFill>
                <a:latin typeface="Calibri"/>
              </a:rPr>
              <a:t>One account, many hats — permissions are per-row, not per-account.</a:t>
            </a:r>
          </a:p>
          <a:p>
            <a:pPr algn="l" rtl="0">
              <a:spcBef>
                <a:spcPts val="0"/>
              </a:spcBef>
              <a:spcAft>
                <a:spcPts val="18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●  </a:t>
            </a:r>
            <a:r>
              <a:rPr sz="2000">
                <a:solidFill>
                  <a:srgbClr val="0E1F18"/>
                </a:solidFill>
                <a:latin typeface="Calibri"/>
              </a:rPr>
              <a:t>Three roles: requester · verified helper (optional pro badge) · admin.</a:t>
            </a:r>
          </a:p>
          <a:p>
            <a:pPr algn="l" rtl="0">
              <a:spcBef>
                <a:spcPts val="0"/>
              </a:spcBef>
              <a:spcAft>
                <a:spcPts val="18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●  </a:t>
            </a:r>
            <a:r>
              <a:rPr sz="2000">
                <a:solidFill>
                  <a:srgbClr val="0E1F18"/>
                </a:solidFill>
                <a:latin typeface="Calibri"/>
              </a:rPr>
              <a:t>The customer = the professional helper. iHelp is a lead-generation channel.</a:t>
            </a:r>
          </a:p>
          <a:p>
            <a:pPr algn="l" rtl="0">
              <a:spcBef>
                <a:spcPts val="0"/>
              </a:spcBef>
              <a:spcAft>
                <a:spcPts val="18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●  </a:t>
            </a:r>
            <a:r>
              <a:rPr sz="2000">
                <a:solidFill>
                  <a:srgbClr val="0E1F18"/>
                </a:solidFill>
                <a:latin typeface="Calibri"/>
              </a:rPr>
              <a:t>Requesters are free by design — charging demand would kill liquidity.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881360" cy="731520"/>
          </a:xfrm>
          <a:prstGeom prst="roundRect">
            <a:avLst/>
          </a:prstGeom>
          <a:solidFill>
            <a:srgbClr val="EA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05856"/>
            <a:ext cx="1033272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0F6B4F"/>
                </a:solidFill>
                <a:latin typeface="Calibri"/>
              </a:rPr>
              <a:t>Symmetric trust: both sides pass identity verification before the first deal.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200" b="1" lang="en-US">
                <a:solidFill>
                  <a:srgbClr val="0F6B4F"/>
                </a:solidFill>
                <a:latin typeface="Calibri"/>
              </a:rPr>
              <a:t>§8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Calibri"/>
              </a:rPr>
              <a:t>iHelp · 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3400" b="1" lang="en-US">
                <a:solidFill>
                  <a:srgbClr val="FFFFFF"/>
                </a:solidFill>
                <a:latin typeface="Calibri"/>
              </a:rPr>
              <a:t>Live demo — the core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64240" cy="31750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658368" cy="658368"/>
          </a:xfrm>
          <a:prstGeom prst="round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746504"/>
            <a:ext cx="992124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2000" b="1" lang="en-US">
                <a:solidFill>
                  <a:srgbClr val="FFFFFF"/>
                </a:solidFill>
                <a:latin typeface="Calibri"/>
              </a:rPr>
              <a:t>Post a 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148840"/>
            <a:ext cx="9921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400" b="0" lang="en-US">
                <a:solidFill>
                  <a:srgbClr val="D9E8E1"/>
                </a:solidFill>
                <a:latin typeface="Calibri"/>
              </a:rPr>
              <a:t>Title, description, photo, location → status "open"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79191"/>
            <a:ext cx="658368" cy="658368"/>
          </a:xfrm>
          <a:prstGeom prst="round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642615"/>
            <a:ext cx="992124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2000" b="1" lang="en-US">
                <a:solidFill>
                  <a:srgbClr val="FFFFFF"/>
                </a:solidFill>
                <a:latin typeface="Calibri"/>
              </a:rPr>
              <a:t>Make an offer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44951"/>
            <a:ext cx="9921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400" b="0" lang="en-US">
                <a:solidFill>
                  <a:srgbClr val="D9E8E1"/>
                </a:solidFill>
                <a:latin typeface="Calibri"/>
              </a:rPr>
              <a:t>Helper picks a pricing stance — sealed bid, no competitors seen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75303"/>
            <a:ext cx="658368" cy="658368"/>
          </a:xfrm>
          <a:prstGeom prst="round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538727"/>
            <a:ext cx="992124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2000" b="1" lang="en-US">
                <a:solidFill>
                  <a:srgbClr val="FFFFFF"/>
                </a:solidFill>
                <a:latin typeface="Calibri"/>
              </a:rPr>
              <a:t>Compare + assign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941063"/>
            <a:ext cx="9921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400" b="0" lang="en-US">
                <a:solidFill>
                  <a:srgbClr val="D9E8E1"/>
                </a:solidFill>
                <a:latin typeface="Calibri"/>
              </a:rPr>
              <a:t>Atomic assignment: closes all others in one transaction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71416"/>
            <a:ext cx="658368" cy="658368"/>
          </a:xfrm>
          <a:prstGeom prst="round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434840"/>
            <a:ext cx="992124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2000" b="1" lang="en-US">
                <a:solidFill>
                  <a:srgbClr val="FFFFFF"/>
                </a:solidFill>
                <a:latin typeface="Calibri"/>
              </a:rPr>
              <a:t>Dual completion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837176"/>
            <a:ext cx="9921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400" b="0" lang="en-US">
                <a:solidFill>
                  <a:srgbClr val="D9E8E1"/>
                </a:solidFill>
                <a:latin typeface="Calibri"/>
              </a:rPr>
              <a:t>Both sides confirm → only then "completed"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67527"/>
            <a:ext cx="658368" cy="658368"/>
          </a:xfrm>
          <a:prstGeom prst="round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330951"/>
            <a:ext cx="992124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2000" b="1" lang="en-US">
                <a:solidFill>
                  <a:srgbClr val="FFFFFF"/>
                </a:solidFill>
                <a:latin typeface="Calibri"/>
              </a:rPr>
              <a:t>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733288"/>
            <a:ext cx="9921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400" b="0" lang="en-US">
                <a:solidFill>
                  <a:srgbClr val="D9E8E1"/>
                </a:solidFill>
                <a:latin typeface="Calibri"/>
              </a:rPr>
              <a:t>The requester rates → the reputation page updates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200" b="1" lang="en-US">
                <a:solidFill>
                  <a:srgbClr val="0F6B4F"/>
                </a:solidFill>
                <a:latin typeface="Calibri"/>
              </a:rPr>
              <a:t>§5–6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Calibri"/>
              </a:rPr>
              <a:t>iHelp · 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3400" b="1" lang="en-US">
                <a:solidFill>
                  <a:srgbClr val="0E1F18"/>
                </a:solidFill>
                <a:latin typeface="Calibri"/>
              </a:rPr>
              <a:t>Architecture: the database is the authority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64240" cy="31750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39319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 rtl="0">
              <a:spcBef>
                <a:spcPts val="0"/>
              </a:spcBef>
              <a:spcAft>
                <a:spcPts val="1600"/>
              </a:spcAft>
            </a:pPr>
            <a:r>
              <a:rPr sz="1400" b="1">
                <a:solidFill>
                  <a:srgbClr val="0F6B4F"/>
                </a:solidFill>
                <a:latin typeface="Calibri"/>
              </a:rPr>
              <a:t>●  </a:t>
            </a:r>
            <a:r>
              <a:rPr sz="1800">
                <a:solidFill>
                  <a:srgbClr val="0E1F18"/>
                </a:solidFill>
                <a:latin typeface="Calibri"/>
              </a:rPr>
              <a:t>Three tiers: React · Next.js on Vercel · Supabase (Postgres + RLS, Auth, Storage).</a:t>
            </a:r>
          </a:p>
          <a:p>
            <a:pPr algn="l" rtl="0">
              <a:spcBef>
                <a:spcPts val="0"/>
              </a:spcBef>
              <a:spcAft>
                <a:spcPts val="1600"/>
              </a:spcAft>
            </a:pPr>
            <a:r>
              <a:rPr sz="1400" b="1">
                <a:solidFill>
                  <a:srgbClr val="0F6B4F"/>
                </a:solidFill>
                <a:latin typeface="Calibri"/>
              </a:rPr>
              <a:t>●  </a:t>
            </a:r>
            <a:r>
              <a:rPr sz="1800">
                <a:solidFill>
                  <a:srgbClr val="0E1F18"/>
                </a:solidFill>
                <a:latin typeface="Calibri"/>
              </a:rPr>
              <a:t>Reads = Server Components · writes = Server Actions · no separate API server.</a:t>
            </a:r>
          </a:p>
          <a:p>
            <a:pPr algn="l" rtl="0">
              <a:spcBef>
                <a:spcPts val="0"/>
              </a:spcBef>
              <a:spcAft>
                <a:spcPts val="1600"/>
              </a:spcAft>
            </a:pPr>
            <a:r>
              <a:rPr sz="1400" b="1">
                <a:solidFill>
                  <a:srgbClr val="0F6B4F"/>
                </a:solidFill>
                <a:latin typeface="Calibri"/>
              </a:rPr>
              <a:t>●  </a:t>
            </a:r>
            <a:r>
              <a:rPr sz="1800">
                <a:solidFill>
                  <a:srgbClr val="0E1F18"/>
                </a:solidFill>
                <a:latin typeface="Calibri"/>
              </a:rPr>
              <a:t>Every permission enforced in Postgres: RLS + 11 SECURITY DEFINER functions + triggers.</a:t>
            </a:r>
          </a:p>
          <a:p>
            <a:pPr algn="l" rtl="0">
              <a:spcBef>
                <a:spcPts val="0"/>
              </a:spcBef>
              <a:spcAft>
                <a:spcPts val="1600"/>
              </a:spcAft>
            </a:pPr>
            <a:r>
              <a:rPr sz="1400" b="1">
                <a:solidFill>
                  <a:srgbClr val="0F6B4F"/>
                </a:solidFill>
                <a:latin typeface="Calibri"/>
              </a:rPr>
              <a:t>●  </a:t>
            </a:r>
            <a:r>
              <a:rPr sz="1800">
                <a:solidFill>
                  <a:srgbClr val="0E1F18"/>
                </a:solidFill>
                <a:latin typeface="Calibri"/>
              </a:rPr>
              <a:t>The app never uses the service-role key.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881360" cy="731520"/>
          </a:xfrm>
          <a:prstGeom prst="roundRect">
            <a:avLst/>
          </a:prstGeom>
          <a:solidFill>
            <a:srgbClr val="EA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05856"/>
            <a:ext cx="1033272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0F6B4F"/>
                </a:solidFill>
                <a:latin typeface="Calibri"/>
              </a:rPr>
              <a:t>The key decision: the profiles/profiles_private split — RLS is row-level.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200" b="1" lang="en-US">
                <a:solidFill>
                  <a:srgbClr val="0F6B4F"/>
                </a:solidFill>
                <a:latin typeface="Calibri"/>
              </a:rPr>
              <a:t>§7 ·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Calibri"/>
              </a:rPr>
              <a:t>iHelp · 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3400" b="1" lang="en-US">
                <a:solidFill>
                  <a:srgbClr val="0E1F18"/>
                </a:solidFill>
                <a:latin typeface="Calibri"/>
              </a:rPr>
              <a:t>The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64240" cy="31750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39319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 rtl="0">
              <a:spcBef>
                <a:spcPts val="0"/>
              </a:spcBef>
              <a:spcAft>
                <a:spcPts val="17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●  </a:t>
            </a:r>
            <a:r>
              <a:rPr sz="1900">
                <a:solidFill>
                  <a:srgbClr val="0E1F18"/>
                </a:solidFill>
                <a:latin typeface="Calibri"/>
              </a:rPr>
              <a:t>7 tables · 14 SQL migrations — the source of truth.</a:t>
            </a:r>
          </a:p>
          <a:p>
            <a:pPr algn="l" rtl="0">
              <a:spcBef>
                <a:spcPts val="0"/>
              </a:spcBef>
              <a:spcAft>
                <a:spcPts val="17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●  </a:t>
            </a:r>
            <a:r>
              <a:rPr sz="1900">
                <a:solidFill>
                  <a:srgbClr val="0E1F18"/>
                </a:solidFill>
                <a:latin typeface="Calibri"/>
              </a:rPr>
              <a:t>State machine: open → has_offers → assigned → completed → rated.</a:t>
            </a:r>
          </a:p>
          <a:p>
            <a:pPr algn="l" rtl="0">
              <a:spcBef>
                <a:spcPts val="0"/>
              </a:spcBef>
              <a:spcAft>
                <a:spcPts val="17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●  </a:t>
            </a:r>
            <a:r>
              <a:rPr sz="1900">
                <a:solidFill>
                  <a:srgbClr val="0E1F18"/>
                </a:solidFill>
                <a:latin typeface="Calibri"/>
              </a:rPr>
              <a:t>Enums for closed value-sets → an invalid state becomes a type error.</a:t>
            </a:r>
          </a:p>
          <a:p>
            <a:pPr algn="l" rtl="0">
              <a:spcBef>
                <a:spcPts val="0"/>
              </a:spcBef>
              <a:spcAft>
                <a:spcPts val="17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●  </a:t>
            </a:r>
            <a:r>
              <a:rPr sz="1900">
                <a:solidFill>
                  <a:srgbClr val="0E1F18"/>
                </a:solidFill>
                <a:latin typeface="Calibri"/>
              </a:rPr>
              <a:t>An index per hot query · every RLS policy carries its justification.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881360" cy="731520"/>
          </a:xfrm>
          <a:prstGeom prst="roundRect">
            <a:avLst/>
          </a:prstGeom>
          <a:solidFill>
            <a:srgbClr val="EA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05856"/>
            <a:ext cx="1033272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0F6B4F"/>
                </a:solidFill>
                <a:latin typeface="Calibri"/>
              </a:rPr>
              <a:t>Example: sealed bids — only the offer owner and request owner can read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200" b="1" lang="en-US">
                <a:solidFill>
                  <a:srgbClr val="0F6B4F"/>
                </a:solidFill>
                <a:latin typeface="Calibri"/>
              </a:rPr>
              <a:t>§9 ·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Calibri"/>
              </a:rPr>
              <a:t>iHelp · 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3400" b="1" lang="en-US">
                <a:solidFill>
                  <a:srgbClr val="0E1F18"/>
                </a:solidFill>
                <a:latin typeface="Calibri"/>
              </a:rPr>
              <a:t>Tests: proving the database says "no"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64240" cy="31750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39319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 rtl="0">
              <a:spcBef>
                <a:spcPts val="0"/>
              </a:spcBef>
              <a:spcAft>
                <a:spcPts val="17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●  </a:t>
            </a:r>
            <a:r>
              <a:rPr sz="1900">
                <a:solidFill>
                  <a:srgbClr val="0E1F18"/>
                </a:solidFill>
                <a:latin typeface="Calibri"/>
              </a:rPr>
              <a:t>62 automated tests (61 Vitest + Playwright E2E) — all passing.</a:t>
            </a:r>
          </a:p>
          <a:p>
            <a:pPr algn="l" rtl="0">
              <a:spcBef>
                <a:spcPts val="0"/>
              </a:spcBef>
              <a:spcAft>
                <a:spcPts val="17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●  </a:t>
            </a:r>
            <a:r>
              <a:rPr sz="1900">
                <a:solidFill>
                  <a:srgbClr val="0E1F18"/>
                </a:solidFill>
                <a:latin typeface="Calibri"/>
              </a:rPr>
              <a:t>15 permission tests attack the DB as the wrong user and assert denial.</a:t>
            </a:r>
          </a:p>
          <a:p>
            <a:pPr algn="l" rtl="0">
              <a:spcBef>
                <a:spcPts val="0"/>
              </a:spcBef>
              <a:spcAft>
                <a:spcPts val="17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●  </a:t>
            </a:r>
            <a:r>
              <a:rPr sz="1900">
                <a:solidFill>
                  <a:srgbClr val="0E1F18"/>
                </a:solidFill>
                <a:latin typeface="Calibri"/>
              </a:rPr>
              <a:t>A happy-path-only test proves nothing — we assert denial too.</a:t>
            </a:r>
          </a:p>
          <a:p>
            <a:pPr algn="l" rtl="0">
              <a:spcBef>
                <a:spcPts val="0"/>
              </a:spcBef>
              <a:spcAft>
                <a:spcPts val="17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●  </a:t>
            </a:r>
            <a:r>
              <a:rPr sz="1900">
                <a:solidFill>
                  <a:srgbClr val="0E1F18"/>
                </a:solidFill>
                <a:latin typeface="Calibri"/>
              </a:rPr>
              <a:t>A full E2E drives the whole loop in two separate browser sessions.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881360" cy="731520"/>
          </a:xfrm>
          <a:prstGeom prst="roundRect">
            <a:avLst/>
          </a:prstGeom>
          <a:solidFill>
            <a:srgbClr val="EA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05856"/>
            <a:ext cx="1033272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0F6B4F"/>
                </a:solidFill>
                <a:latin typeface="Calibri"/>
              </a:rPr>
              <a:t>The tests are organized around the security claim: the database enforces every rule.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200" b="1" lang="en-US">
                <a:solidFill>
                  <a:srgbClr val="0F6B4F"/>
                </a:solidFill>
                <a:latin typeface="Calibri"/>
              </a:rPr>
              <a:t>§10 ·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Calibri"/>
              </a:rPr>
              <a:t>iHelp · 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3400" b="1" lang="en-US">
                <a:solidFill>
                  <a:srgbClr val="0E1F18"/>
                </a:solidFill>
                <a:latin typeface="Calibri"/>
              </a:rPr>
              <a:t>How we thought about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64240" cy="31750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39319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 rtl="0">
              <a:spcBef>
                <a:spcPts val="0"/>
              </a:spcBef>
              <a:spcAft>
                <a:spcPts val="17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●  </a:t>
            </a:r>
            <a:r>
              <a:rPr sz="1900">
                <a:solidFill>
                  <a:srgbClr val="0E1F18"/>
                </a:solidFill>
                <a:latin typeface="Calibri"/>
              </a:rPr>
              <a:t>Designed for tens of users and hundreds of requests — simple and correct.</a:t>
            </a:r>
          </a:p>
          <a:p>
            <a:pPr algn="l" rtl="0">
              <a:spcBef>
                <a:spcPts val="0"/>
              </a:spcBef>
              <a:spcAft>
                <a:spcPts val="17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●  </a:t>
            </a:r>
            <a:r>
              <a:rPr sz="1900">
                <a:solidFill>
                  <a:srgbClr val="0E1F18"/>
                </a:solidFill>
                <a:latin typeface="Calibri"/>
              </a:rPr>
              <a:t>Feed capped at 200 + Haversine sort in TypeScript + 12 per page.</a:t>
            </a:r>
          </a:p>
          <a:p>
            <a:pPr algn="l" rtl="0">
              <a:spcBef>
                <a:spcPts val="0"/>
              </a:spcBef>
              <a:spcAft>
                <a:spcPts val="17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●  </a:t>
            </a:r>
            <a:r>
              <a:rPr sz="1900">
                <a:solidFill>
                  <a:srgbClr val="0E1F18"/>
                </a:solidFill>
                <a:latin typeface="Calibri"/>
              </a:rPr>
              <a:t>An index per heavy query · server-side reads · no client cache.</a:t>
            </a:r>
          </a:p>
          <a:p>
            <a:pPr algn="l" rtl="0">
              <a:spcBef>
                <a:spcPts val="0"/>
              </a:spcBef>
              <a:spcAft>
                <a:spcPts val="17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●  </a:t>
            </a:r>
            <a:r>
              <a:rPr sz="1900">
                <a:solidFill>
                  <a:srgbClr val="0E1F18"/>
                </a:solidFill>
                <a:latin typeface="Calibri"/>
              </a:rPr>
              <a:t>Every limit has an explicit signal and a named successor — all additive.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881360" cy="731520"/>
          </a:xfrm>
          <a:prstGeom prst="roundRect">
            <a:avLst/>
          </a:prstGeom>
          <a:solidFill>
            <a:srgbClr val="EA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05856"/>
            <a:ext cx="1033272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0F6B4F"/>
                </a:solidFill>
                <a:latin typeface="Calibri"/>
              </a:rPr>
              <a:t>What breaks first is the human admin queue, not the DB — and we say so honestly.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200" b="1" lang="en-US">
                <a:solidFill>
                  <a:srgbClr val="0F6B4F"/>
                </a:solidFill>
                <a:latin typeface="Calibri"/>
              </a:rPr>
              <a:t>§11 ·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Calibri"/>
              </a:rPr>
              <a:t>iHelp · 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3400" b="1" lang="en-US">
                <a:solidFill>
                  <a:srgbClr val="0E1F18"/>
                </a:solidFill>
                <a:latin typeface="Calibri"/>
              </a:rPr>
              <a:t>How we thought about 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64240" cy="31750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39319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 rtl="0">
              <a:spcBef>
                <a:spcPts val="0"/>
              </a:spcBef>
              <a:spcAft>
                <a:spcPts val="1600"/>
              </a:spcAft>
            </a:pPr>
            <a:r>
              <a:rPr sz="1400" b="1">
                <a:solidFill>
                  <a:srgbClr val="0F6B4F"/>
                </a:solidFill>
                <a:latin typeface="Calibri"/>
              </a:rPr>
              <a:t>●  </a:t>
            </a:r>
            <a:r>
              <a:rPr sz="1800">
                <a:solidFill>
                  <a:srgbClr val="0E1F18"/>
                </a:solidFill>
                <a:latin typeface="Calibri"/>
              </a:rPr>
              <a:t>Four enforcement layers, only the last is trusted — the database.</a:t>
            </a:r>
          </a:p>
          <a:p>
            <a:pPr algn="l" rtl="0">
              <a:spcBef>
                <a:spcPts val="0"/>
              </a:spcBef>
              <a:spcAft>
                <a:spcPts val="1600"/>
              </a:spcAft>
            </a:pPr>
            <a:r>
              <a:rPr sz="1400" b="1">
                <a:solidFill>
                  <a:srgbClr val="0F6B4F"/>
                </a:solidFill>
                <a:latin typeface="Calibri"/>
              </a:rPr>
              <a:t>●  </a:t>
            </a:r>
            <a:r>
              <a:rPr sz="1800">
                <a:solidFill>
                  <a:srgbClr val="0E1F18"/>
                </a:solidFill>
                <a:latin typeface="Calibri"/>
              </a:rPr>
              <a:t>Auth: Supabase Auth (bcrypt), HttpOnly cookies, JWT on every call.</a:t>
            </a:r>
          </a:p>
          <a:p>
            <a:pPr algn="l" rtl="0">
              <a:spcBef>
                <a:spcPts val="0"/>
              </a:spcBef>
              <a:spcAft>
                <a:spcPts val="1600"/>
              </a:spcAft>
            </a:pPr>
            <a:r>
              <a:rPr sz="1400" b="1">
                <a:solidFill>
                  <a:srgbClr val="0F6B4F"/>
                </a:solidFill>
                <a:latin typeface="Calibri"/>
              </a:rPr>
              <a:t>●  </a:t>
            </a:r>
            <a:r>
              <a:rPr sz="1800">
                <a:solidFill>
                  <a:srgbClr val="0E1F18"/>
                </a:solidFill>
                <a:latin typeface="Calibri"/>
              </a:rPr>
              <a:t>The public anon key is safe because RLS is the authority · service-role in zero code.</a:t>
            </a:r>
          </a:p>
          <a:p>
            <a:pPr algn="l" rtl="0">
              <a:spcBef>
                <a:spcPts val="0"/>
              </a:spcBef>
              <a:spcAft>
                <a:spcPts val="1600"/>
              </a:spcAft>
            </a:pPr>
            <a:r>
              <a:rPr sz="1400" b="1">
                <a:solidFill>
                  <a:srgbClr val="0F6B4F"/>
                </a:solidFill>
                <a:latin typeface="Calibri"/>
              </a:rPr>
              <a:t>●  </a:t>
            </a:r>
            <a:r>
              <a:rPr sz="1800">
                <a:solidFill>
                  <a:srgbClr val="0E1F18"/>
                </a:solidFill>
                <a:latin typeface="Calibri"/>
              </a:rPr>
              <a:t>XSS · CSRF · SQL injection — all structurally neutralized.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881360" cy="731520"/>
          </a:xfrm>
          <a:prstGeom prst="roundRect">
            <a:avLst/>
          </a:prstGeom>
          <a:solidFill>
            <a:srgbClr val="EA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05856"/>
            <a:ext cx="1033272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0F6B4F"/>
                </a:solidFill>
                <a:latin typeface="Calibri"/>
              </a:rPr>
              <a:t>An honest risk list (R1–R10), including a real bug caught and fixed.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200" b="1" lang="en-US">
                <a:solidFill>
                  <a:srgbClr val="0F6B4F"/>
                </a:solidFill>
                <a:latin typeface="Calibri"/>
              </a:rPr>
              <a:t>§12 ·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63"/>
                </a:solidFill>
                <a:latin typeface="Calibri"/>
              </a:rPr>
              <a:t>iHelp · 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10642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3400" b="1" lang="en-US">
                <a:solidFill>
                  <a:srgbClr val="0E1F18"/>
                </a:solidFill>
                <a:latin typeface="Calibri"/>
              </a:rPr>
              <a:t>What we'd improve with more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1064240" cy="31750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39319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 rtl="0">
              <a:spcBef>
                <a:spcPts val="0"/>
              </a:spcBef>
              <a:spcAft>
                <a:spcPts val="18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●  </a:t>
            </a:r>
            <a:r>
              <a:rPr sz="2000">
                <a:solidFill>
                  <a:srgbClr val="0E1F18"/>
                </a:solidFill>
                <a:latin typeface="Calibri"/>
              </a:rPr>
              <a:t>In-app chat between the matched parties.</a:t>
            </a:r>
          </a:p>
          <a:p>
            <a:pPr algn="l" rtl="0">
              <a:spcBef>
                <a:spcPts val="0"/>
              </a:spcBef>
              <a:spcAft>
                <a:spcPts val="18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●  </a:t>
            </a:r>
            <a:r>
              <a:rPr sz="2000">
                <a:solidFill>
                  <a:srgbClr val="0E1F18"/>
                </a:solidFill>
                <a:latin typeface="Calibri"/>
              </a:rPr>
              <a:t>SMS OTP for real phone verification.</a:t>
            </a:r>
          </a:p>
          <a:p>
            <a:pPr algn="l" rtl="0">
              <a:spcBef>
                <a:spcPts val="0"/>
              </a:spcBef>
              <a:spcAft>
                <a:spcPts val="18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●  </a:t>
            </a:r>
            <a:r>
              <a:rPr sz="2000">
                <a:solidFill>
                  <a:srgbClr val="0E1F18"/>
                </a:solidFill>
                <a:latin typeface="Calibri"/>
              </a:rPr>
              <a:t>In-app notifications — no manual refresh.</a:t>
            </a:r>
          </a:p>
          <a:p>
            <a:pPr algn="l" rtl="0">
              <a:spcBef>
                <a:spcPts val="0"/>
              </a:spcBef>
              <a:spcAft>
                <a:spcPts val="1800"/>
              </a:spcAft>
            </a:pPr>
            <a:r>
              <a:rPr sz="1600" b="1">
                <a:solidFill>
                  <a:srgbClr val="0F6B4F"/>
                </a:solidFill>
                <a:latin typeface="Calibri"/>
              </a:rPr>
              <a:t>●  </a:t>
            </a:r>
            <a:r>
              <a:rPr sz="2000">
                <a:solidFill>
                  <a:srgbClr val="0E1F18"/>
                </a:solidFill>
                <a:latin typeface="Calibri"/>
              </a:rPr>
              <a:t>Requester-side reputation — closing the trust symmetry.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881360" cy="731520"/>
          </a:xfrm>
          <a:prstGeom prst="roundRect">
            <a:avLst/>
          </a:prstGeom>
          <a:solidFill>
            <a:srgbClr val="EA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705856"/>
            <a:ext cx="1033272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0F6B4F"/>
                </a:solidFill>
                <a:latin typeface="Calibri"/>
              </a:rPr>
              <a:t>All were deliberate cuts — a small, clean, secure MVP.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4D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A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33272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9FD3C2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601200" cy="2011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 rtl="0">
              <a:spcBef>
                <a:spcPts val="0"/>
              </a:spcBef>
              <a:spcAft>
                <a:spcPts val="2000"/>
              </a:spcAft>
            </a:pPr>
            <a:r>
              <a:rPr sz="2500" b="1" lang="en-US">
                <a:solidFill>
                  <a:srgbClr val="FFFFFF"/>
                </a:solidFill>
                <a:latin typeface="Calibri"/>
              </a:rPr>
              <a:t>iHelp reverses the search for help — you post once and verified neighbors compete to help you — and every line is built so the database itself enforces trust.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60520"/>
            <a:ext cx="1033272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sz="2200" b="1" lang="en-US">
                <a:solidFill>
                  <a:srgbClr val="9FD3C2"/>
                </a:solidFill>
                <a:latin typeface="Calibri"/>
              </a:rPr>
              <a:t>Small · clean · working · secure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49240"/>
            <a:ext cx="1033272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 rtl="0"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ihelp-roan.vercel.app · github.com/YuvGev00/ihelp</a:t>
            </a:r>
          </a:p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sz="2000" b="1" lang="en-US">
                <a:solidFill>
                  <a:srgbClr val="FFFFFF"/>
                </a:solidFill>
                <a:latin typeface="Calibri"/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